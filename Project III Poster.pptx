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3"/>
  </p:notesMasterIdLst>
  <p:sldIdLst>
    <p:sldId id="256" r:id="rId2"/>
  </p:sldIdLst>
  <p:sldSz cx="32004000" cy="47548800"/>
  <p:notesSz cx="38404800" cy="21945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4" d="100"/>
          <a:sy n="24" d="100"/>
        </p:scale>
        <p:origin x="4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64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1pPr>
    <a:lvl2pPr marL="595732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2pPr>
    <a:lvl3pPr marL="1191463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3pPr>
    <a:lvl4pPr marL="1787195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4pPr>
    <a:lvl5pPr marL="2382926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5pPr>
    <a:lvl6pPr marL="2978658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6pPr>
    <a:lvl7pPr marL="3574390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7pPr>
    <a:lvl8pPr marL="4170121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8pPr>
    <a:lvl9pPr marL="4765853" algn="l" defTabSz="1191463" rtl="0" eaLnBrk="1" latinLnBrk="0" hangingPunct="1">
      <a:defRPr sz="156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0" y="7781717"/>
            <a:ext cx="27203400" cy="16554027"/>
          </a:xfrm>
        </p:spPr>
        <p:txBody>
          <a:bodyPr anchor="b"/>
          <a:lstStyle>
            <a:lvl1pPr algn="ctr">
              <a:defRPr sz="21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0" y="24974130"/>
            <a:ext cx="24003000" cy="11479950"/>
          </a:xfrm>
        </p:spPr>
        <p:txBody>
          <a:bodyPr/>
          <a:lstStyle>
            <a:lvl1pPr marL="0" indent="0" algn="ctr">
              <a:buNone/>
              <a:defRPr sz="8400"/>
            </a:lvl1pPr>
            <a:lvl2pPr marL="1600200" indent="0" algn="ctr">
              <a:buNone/>
              <a:defRPr sz="7000"/>
            </a:lvl2pPr>
            <a:lvl3pPr marL="3200400" indent="0" algn="ctr">
              <a:buNone/>
              <a:defRPr sz="6300"/>
            </a:lvl3pPr>
            <a:lvl4pPr marL="4800600" indent="0" algn="ctr">
              <a:buNone/>
              <a:defRPr sz="5600"/>
            </a:lvl4pPr>
            <a:lvl5pPr marL="6400800" indent="0" algn="ctr">
              <a:buNone/>
              <a:defRPr sz="5600"/>
            </a:lvl5pPr>
            <a:lvl6pPr marL="8001000" indent="0" algn="ctr">
              <a:buNone/>
              <a:defRPr sz="5600"/>
            </a:lvl6pPr>
            <a:lvl7pPr marL="9601200" indent="0" algn="ctr">
              <a:buNone/>
              <a:defRPr sz="5600"/>
            </a:lvl7pPr>
            <a:lvl8pPr marL="11201400" indent="0" algn="ctr">
              <a:buNone/>
              <a:defRPr sz="5600"/>
            </a:lvl8pPr>
            <a:lvl9pPr marL="12801600" indent="0" algn="ctr">
              <a:buNone/>
              <a:defRPr sz="5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6391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0980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08" y="11854194"/>
            <a:ext cx="27603450" cy="19778977"/>
          </a:xfrm>
        </p:spPr>
        <p:txBody>
          <a:bodyPr anchor="b"/>
          <a:lstStyle>
            <a:lvl1pPr>
              <a:defRPr sz="21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08" y="31820287"/>
            <a:ext cx="27603450" cy="10401297"/>
          </a:xfrm>
        </p:spPr>
        <p:txBody>
          <a:bodyPr/>
          <a:lstStyle>
            <a:lvl1pPr marL="0" indent="0">
              <a:buNone/>
              <a:defRPr sz="8400">
                <a:solidFill>
                  <a:schemeClr val="tx1"/>
                </a:solidFill>
              </a:defRPr>
            </a:lvl1pPr>
            <a:lvl2pPr marL="16002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2pPr>
            <a:lvl3pPr marL="32004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3pPr>
            <a:lvl4pPr marL="48006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4pPr>
            <a:lvl5pPr marL="64008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5pPr>
            <a:lvl6pPr marL="80010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6pPr>
            <a:lvl7pPr marL="96012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7pPr>
            <a:lvl8pPr marL="112014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8pPr>
            <a:lvl9pPr marL="128016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8195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75" y="12657667"/>
            <a:ext cx="13601700" cy="301692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25" y="12657667"/>
            <a:ext cx="13601700" cy="301692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3816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3" y="2531544"/>
            <a:ext cx="27603450" cy="9190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47" y="11656063"/>
            <a:ext cx="13539190" cy="5712457"/>
          </a:xfrm>
        </p:spPr>
        <p:txBody>
          <a:bodyPr anchor="b"/>
          <a:lstStyle>
            <a:lvl1pPr marL="0" indent="0">
              <a:buNone/>
              <a:defRPr sz="8400" b="1"/>
            </a:lvl1pPr>
            <a:lvl2pPr marL="1600200" indent="0">
              <a:buNone/>
              <a:defRPr sz="7000" b="1"/>
            </a:lvl2pPr>
            <a:lvl3pPr marL="3200400" indent="0">
              <a:buNone/>
              <a:defRPr sz="6300" b="1"/>
            </a:lvl3pPr>
            <a:lvl4pPr marL="4800600" indent="0">
              <a:buNone/>
              <a:defRPr sz="5600" b="1"/>
            </a:lvl4pPr>
            <a:lvl5pPr marL="6400800" indent="0">
              <a:buNone/>
              <a:defRPr sz="5600" b="1"/>
            </a:lvl5pPr>
            <a:lvl6pPr marL="8001000" indent="0">
              <a:buNone/>
              <a:defRPr sz="5600" b="1"/>
            </a:lvl6pPr>
            <a:lvl7pPr marL="9601200" indent="0">
              <a:buNone/>
              <a:defRPr sz="5600" b="1"/>
            </a:lvl7pPr>
            <a:lvl8pPr marL="11201400" indent="0">
              <a:buNone/>
              <a:defRPr sz="5600" b="1"/>
            </a:lvl8pPr>
            <a:lvl9pPr marL="12801600" indent="0">
              <a:buNone/>
              <a:defRPr sz="5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47" y="17368520"/>
            <a:ext cx="13539190" cy="255464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7" y="11656063"/>
            <a:ext cx="13605869" cy="5712457"/>
          </a:xfrm>
        </p:spPr>
        <p:txBody>
          <a:bodyPr anchor="b"/>
          <a:lstStyle>
            <a:lvl1pPr marL="0" indent="0">
              <a:buNone/>
              <a:defRPr sz="8400" b="1"/>
            </a:lvl1pPr>
            <a:lvl2pPr marL="1600200" indent="0">
              <a:buNone/>
              <a:defRPr sz="7000" b="1"/>
            </a:lvl2pPr>
            <a:lvl3pPr marL="3200400" indent="0">
              <a:buNone/>
              <a:defRPr sz="6300" b="1"/>
            </a:lvl3pPr>
            <a:lvl4pPr marL="4800600" indent="0">
              <a:buNone/>
              <a:defRPr sz="5600" b="1"/>
            </a:lvl4pPr>
            <a:lvl5pPr marL="6400800" indent="0">
              <a:buNone/>
              <a:defRPr sz="5600" b="1"/>
            </a:lvl5pPr>
            <a:lvl6pPr marL="8001000" indent="0">
              <a:buNone/>
              <a:defRPr sz="5600" b="1"/>
            </a:lvl6pPr>
            <a:lvl7pPr marL="9601200" indent="0">
              <a:buNone/>
              <a:defRPr sz="5600" b="1"/>
            </a:lvl7pPr>
            <a:lvl8pPr marL="11201400" indent="0">
              <a:buNone/>
              <a:defRPr sz="5600" b="1"/>
            </a:lvl8pPr>
            <a:lvl9pPr marL="12801600" indent="0">
              <a:buNone/>
              <a:defRPr sz="5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7" y="17368520"/>
            <a:ext cx="13605869" cy="255464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370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484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8915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3169920"/>
            <a:ext cx="10322123" cy="11094720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69" y="6846157"/>
            <a:ext cx="16202025" cy="33790467"/>
          </a:xfrm>
        </p:spPr>
        <p:txBody>
          <a:bodyPr/>
          <a:lstStyle>
            <a:lvl1pPr>
              <a:defRPr sz="11200"/>
            </a:lvl1pPr>
            <a:lvl2pPr>
              <a:defRPr sz="9800"/>
            </a:lvl2pPr>
            <a:lvl3pPr>
              <a:defRPr sz="84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14264640"/>
            <a:ext cx="10322123" cy="26427010"/>
          </a:xfrm>
        </p:spPr>
        <p:txBody>
          <a:bodyPr/>
          <a:lstStyle>
            <a:lvl1pPr marL="0" indent="0">
              <a:buNone/>
              <a:defRPr sz="5600"/>
            </a:lvl1pPr>
            <a:lvl2pPr marL="1600200" indent="0">
              <a:buNone/>
              <a:defRPr sz="4900"/>
            </a:lvl2pPr>
            <a:lvl3pPr marL="3200400" indent="0">
              <a:buNone/>
              <a:defRPr sz="4200"/>
            </a:lvl3pPr>
            <a:lvl4pPr marL="4800600" indent="0">
              <a:buNone/>
              <a:defRPr sz="3500"/>
            </a:lvl4pPr>
            <a:lvl5pPr marL="6400800" indent="0">
              <a:buNone/>
              <a:defRPr sz="3500"/>
            </a:lvl5pPr>
            <a:lvl6pPr marL="8001000" indent="0">
              <a:buNone/>
              <a:defRPr sz="3500"/>
            </a:lvl6pPr>
            <a:lvl7pPr marL="9601200" indent="0">
              <a:buNone/>
              <a:defRPr sz="3500"/>
            </a:lvl7pPr>
            <a:lvl8pPr marL="11201400" indent="0">
              <a:buNone/>
              <a:defRPr sz="3500"/>
            </a:lvl8pPr>
            <a:lvl9pPr marL="12801600" indent="0">
              <a:buNone/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18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3169920"/>
            <a:ext cx="10322123" cy="11094720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69" y="6846157"/>
            <a:ext cx="16202025" cy="33790467"/>
          </a:xfrm>
        </p:spPr>
        <p:txBody>
          <a:bodyPr anchor="t"/>
          <a:lstStyle>
            <a:lvl1pPr marL="0" indent="0">
              <a:buNone/>
              <a:defRPr sz="11200"/>
            </a:lvl1pPr>
            <a:lvl2pPr marL="1600200" indent="0">
              <a:buNone/>
              <a:defRPr sz="9800"/>
            </a:lvl2pPr>
            <a:lvl3pPr marL="3200400" indent="0">
              <a:buNone/>
              <a:defRPr sz="8400"/>
            </a:lvl3pPr>
            <a:lvl4pPr marL="4800600" indent="0">
              <a:buNone/>
              <a:defRPr sz="7000"/>
            </a:lvl4pPr>
            <a:lvl5pPr marL="6400800" indent="0">
              <a:buNone/>
              <a:defRPr sz="7000"/>
            </a:lvl5pPr>
            <a:lvl6pPr marL="8001000" indent="0">
              <a:buNone/>
              <a:defRPr sz="7000"/>
            </a:lvl6pPr>
            <a:lvl7pPr marL="9601200" indent="0">
              <a:buNone/>
              <a:defRPr sz="7000"/>
            </a:lvl7pPr>
            <a:lvl8pPr marL="11201400" indent="0">
              <a:buNone/>
              <a:defRPr sz="7000"/>
            </a:lvl8pPr>
            <a:lvl9pPr marL="12801600" indent="0">
              <a:buNone/>
              <a:defRPr sz="7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14264640"/>
            <a:ext cx="10322123" cy="26427010"/>
          </a:xfrm>
        </p:spPr>
        <p:txBody>
          <a:bodyPr/>
          <a:lstStyle>
            <a:lvl1pPr marL="0" indent="0">
              <a:buNone/>
              <a:defRPr sz="5600"/>
            </a:lvl1pPr>
            <a:lvl2pPr marL="1600200" indent="0">
              <a:buNone/>
              <a:defRPr sz="4900"/>
            </a:lvl2pPr>
            <a:lvl3pPr marL="3200400" indent="0">
              <a:buNone/>
              <a:defRPr sz="4200"/>
            </a:lvl3pPr>
            <a:lvl4pPr marL="4800600" indent="0">
              <a:buNone/>
              <a:defRPr sz="3500"/>
            </a:lvl4pPr>
            <a:lvl5pPr marL="6400800" indent="0">
              <a:buNone/>
              <a:defRPr sz="3500"/>
            </a:lvl5pPr>
            <a:lvl6pPr marL="8001000" indent="0">
              <a:buNone/>
              <a:defRPr sz="3500"/>
            </a:lvl6pPr>
            <a:lvl7pPr marL="9601200" indent="0">
              <a:buNone/>
              <a:defRPr sz="3500"/>
            </a:lvl7pPr>
            <a:lvl8pPr marL="11201400" indent="0">
              <a:buNone/>
              <a:defRPr sz="3500"/>
            </a:lvl8pPr>
            <a:lvl9pPr marL="12801600" indent="0">
              <a:buNone/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367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1062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4" y="2531533"/>
            <a:ext cx="6900863" cy="402954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7" y="2531533"/>
            <a:ext cx="20302538" cy="402954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287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30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75" y="2531544"/>
            <a:ext cx="27603450" cy="9190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5" y="12657667"/>
            <a:ext cx="27603450" cy="30169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75" y="44070704"/>
            <a:ext cx="7200900" cy="25315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25" y="44070704"/>
            <a:ext cx="10801350" cy="25315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25" y="44070704"/>
            <a:ext cx="7200900" cy="25315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71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3200400" rtl="0" eaLnBrk="1" latinLnBrk="0" hangingPunct="1">
        <a:lnSpc>
          <a:spcPct val="90000"/>
        </a:lnSpc>
        <a:spcBef>
          <a:spcPct val="0"/>
        </a:spcBef>
        <a:buNone/>
        <a:defRPr sz="1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0" indent="-800100" algn="l" defTabSz="3200400" rtl="0" eaLnBrk="1" latinLnBrk="0" hangingPunct="1">
        <a:lnSpc>
          <a:spcPct val="90000"/>
        </a:lnSpc>
        <a:spcBef>
          <a:spcPts val="3500"/>
        </a:spcBef>
        <a:buFont typeface="Arial" panose="020B0604020202020204" pitchFamily="34" charset="0"/>
        <a:buChar char="•"/>
        <a:defRPr sz="980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47"/>
          <p:cNvSpPr/>
          <p:nvPr/>
        </p:nvSpPr>
        <p:spPr>
          <a:xfrm>
            <a:off x="1578865" y="20259507"/>
            <a:ext cx="29604520" cy="11116089"/>
          </a:xfrm>
          <a:prstGeom prst="rect">
            <a:avLst/>
          </a:prstGeom>
          <a:solidFill>
            <a:srgbClr val="FFFCF6"/>
          </a:solidFill>
          <a:ln w="9525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2" name="Shape 0"/>
          <p:cNvSpPr/>
          <p:nvPr/>
        </p:nvSpPr>
        <p:spPr>
          <a:xfrm>
            <a:off x="786385" y="758516"/>
            <a:ext cx="29887817" cy="2841608"/>
          </a:xfrm>
          <a:prstGeom prst="rect">
            <a:avLst/>
          </a:prstGeom>
          <a:solidFill>
            <a:srgbClr val="8B5A5C"/>
          </a:solidFill>
          <a:ln w="1270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3" name="Shape 1"/>
          <p:cNvSpPr/>
          <p:nvPr/>
        </p:nvSpPr>
        <p:spPr>
          <a:xfrm>
            <a:off x="786385" y="3101993"/>
            <a:ext cx="29887817" cy="99626"/>
          </a:xfrm>
          <a:prstGeom prst="rect">
            <a:avLst/>
          </a:prstGeom>
          <a:solidFill>
            <a:srgbClr val="F2D9BC"/>
          </a:solidFill>
          <a:ln w="12700">
            <a:solidFill>
              <a:srgbClr val="F2D9B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6" name="Text 3"/>
          <p:cNvSpPr/>
          <p:nvPr/>
        </p:nvSpPr>
        <p:spPr>
          <a:xfrm>
            <a:off x="22006208" y="1361934"/>
            <a:ext cx="8343682" cy="161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2971" b="1" kern="0" spc="495" dirty="0">
                <a:solidFill>
                  <a:srgbClr val="F2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UNIVERSITY OF INFORMATICS</a:t>
            </a:r>
            <a:endParaRPr lang="en-US" sz="1733" dirty="0"/>
          </a:p>
          <a:p>
            <a:pPr algn="r"/>
            <a:r>
              <a:rPr lang="en-US" sz="297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&amp; Information Systems</a:t>
            </a:r>
            <a:endParaRPr lang="en-US" sz="1733" dirty="0"/>
          </a:p>
          <a:p>
            <a:pPr algn="r"/>
            <a:r>
              <a:rPr lang="en-US" sz="2971" i="1" dirty="0">
                <a:solidFill>
                  <a:srgbClr val="ED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·  Project III  ·  2025</a:t>
            </a:r>
            <a:endParaRPr lang="en-US" sz="1733" dirty="0"/>
          </a:p>
        </p:txBody>
      </p:sp>
      <p:sp>
        <p:nvSpPr>
          <p:cNvPr id="7" name="Text 4"/>
          <p:cNvSpPr/>
          <p:nvPr/>
        </p:nvSpPr>
        <p:spPr>
          <a:xfrm>
            <a:off x="1517997" y="1241909"/>
            <a:ext cx="28144361" cy="118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676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Discounts Actually Drive Sales?</a:t>
            </a:r>
            <a:endParaRPr lang="en-US" sz="6933" dirty="0"/>
          </a:p>
        </p:txBody>
      </p:sp>
      <p:sp>
        <p:nvSpPr>
          <p:cNvPr id="8" name="Text 5"/>
          <p:cNvSpPr/>
          <p:nvPr/>
        </p:nvSpPr>
        <p:spPr>
          <a:xfrm>
            <a:off x="1517997" y="2505136"/>
            <a:ext cx="28144361" cy="49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i="1" dirty="0">
                <a:solidFill>
                  <a:srgbClr val="ED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34,500 e-commerce transactions on the impact of discount strategy on revenue and profitability</a:t>
            </a:r>
            <a:endParaRPr lang="en-US" sz="1981" dirty="0"/>
          </a:p>
        </p:txBody>
      </p:sp>
      <p:sp>
        <p:nvSpPr>
          <p:cNvPr id="9" name="Text 6"/>
          <p:cNvSpPr/>
          <p:nvPr/>
        </p:nvSpPr>
        <p:spPr>
          <a:xfrm>
            <a:off x="1329798" y="3683370"/>
            <a:ext cx="28144361" cy="62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i="1" dirty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Habiba Hefnawy   ·   Ahmed Tarek   ·   Hana Aladdin   ·   Mohamed Tamer   ·   Mohamed Ziad</a:t>
            </a:r>
            <a:endParaRPr lang="en-US" sz="1981" dirty="0"/>
          </a:p>
        </p:txBody>
      </p:sp>
      <p:sp>
        <p:nvSpPr>
          <p:cNvPr id="10" name="Shape 7"/>
          <p:cNvSpPr/>
          <p:nvPr/>
        </p:nvSpPr>
        <p:spPr>
          <a:xfrm>
            <a:off x="1578865" y="4268070"/>
            <a:ext cx="28144361" cy="3769339"/>
          </a:xfrm>
          <a:prstGeom prst="rect">
            <a:avLst/>
          </a:prstGeom>
          <a:solidFill>
            <a:srgbClr val="D5DFC8"/>
          </a:solidFill>
          <a:ln w="12700">
            <a:solidFill>
              <a:srgbClr val="5C7561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11" name="Shape 8"/>
          <p:cNvSpPr/>
          <p:nvPr/>
        </p:nvSpPr>
        <p:spPr>
          <a:xfrm>
            <a:off x="1578864" y="4268070"/>
            <a:ext cx="471033" cy="3769339"/>
          </a:xfrm>
          <a:prstGeom prst="rect">
            <a:avLst/>
          </a:prstGeom>
          <a:solidFill>
            <a:srgbClr val="5C7561"/>
          </a:solidFill>
          <a:ln w="12700">
            <a:solidFill>
              <a:srgbClr val="5C7561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12" name="Text 9"/>
          <p:cNvSpPr/>
          <p:nvPr/>
        </p:nvSpPr>
        <p:spPr>
          <a:xfrm>
            <a:off x="2108128" y="4454096"/>
            <a:ext cx="9962606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kern="0" spc="990" dirty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</a:t>
            </a:r>
            <a:endParaRPr lang="en-US" sz="1981" dirty="0"/>
          </a:p>
        </p:txBody>
      </p:sp>
      <p:sp>
        <p:nvSpPr>
          <p:cNvPr id="13" name="Text 10"/>
          <p:cNvSpPr/>
          <p:nvPr/>
        </p:nvSpPr>
        <p:spPr>
          <a:xfrm>
            <a:off x="2156242" y="4925704"/>
            <a:ext cx="26899035" cy="249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72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Discounts don’t lift sales </a:t>
            </a:r>
            <a:r>
              <a:rPr lang="en-US" sz="7200" b="1" dirty="0" smtClean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may, instead, reduce profitability.</a:t>
            </a:r>
            <a:endParaRPr lang="en-US" sz="7200" dirty="0"/>
          </a:p>
        </p:txBody>
      </p:sp>
      <p:sp>
        <p:nvSpPr>
          <p:cNvPr id="14" name="Text 11"/>
          <p:cNvSpPr/>
          <p:nvPr/>
        </p:nvSpPr>
        <p:spPr>
          <a:xfrm>
            <a:off x="2144922" y="7208622"/>
            <a:ext cx="26899035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Welch’s t-test  </a:t>
            </a: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= 34,500) shows discounted orders generate </a:t>
            </a:r>
            <a:r>
              <a:rPr lang="en-US" sz="2971" dirty="0" smtClean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2971" b="1" dirty="0" smtClean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slightly lower </a:t>
            </a:r>
            <a:r>
              <a:rPr lang="en-US" sz="2971" dirty="0" smtClean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</a:t>
            </a: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amount than full-price orders  </a:t>
            </a: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 = −5.22, p &lt; 0.0001).</a:t>
            </a:r>
            <a:endParaRPr lang="en-US" sz="2105" dirty="0"/>
          </a:p>
        </p:txBody>
      </p:sp>
      <p:sp>
        <p:nvSpPr>
          <p:cNvPr id="15" name="Shape 12"/>
          <p:cNvSpPr/>
          <p:nvPr/>
        </p:nvSpPr>
        <p:spPr>
          <a:xfrm>
            <a:off x="1740103" y="8465428"/>
            <a:ext cx="751581" cy="705770"/>
          </a:xfrm>
          <a:prstGeom prst="ellipse">
            <a:avLst/>
          </a:prstGeom>
          <a:solidFill>
            <a:srgbClr val="EDD0D0"/>
          </a:solidFill>
          <a:ln w="1524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16" name="Text 13"/>
          <p:cNvSpPr/>
          <p:nvPr/>
        </p:nvSpPr>
        <p:spPr>
          <a:xfrm>
            <a:off x="1578865" y="8282488"/>
            <a:ext cx="1058527" cy="96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8B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2767585" y="8282487"/>
            <a:ext cx="26836769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57" b="1" dirty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Hypotheses</a:t>
            </a:r>
            <a:endParaRPr lang="en-US" sz="3714" dirty="0"/>
          </a:p>
        </p:txBody>
      </p:sp>
      <p:sp>
        <p:nvSpPr>
          <p:cNvPr id="18" name="Shape 15"/>
          <p:cNvSpPr/>
          <p:nvPr/>
        </p:nvSpPr>
        <p:spPr>
          <a:xfrm>
            <a:off x="1578865" y="9341014"/>
            <a:ext cx="28144361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19" name="Shape 16"/>
          <p:cNvSpPr/>
          <p:nvPr/>
        </p:nvSpPr>
        <p:spPr>
          <a:xfrm>
            <a:off x="1454331" y="9979683"/>
            <a:ext cx="13760849" cy="3520875"/>
          </a:xfrm>
          <a:prstGeom prst="rect">
            <a:avLst/>
          </a:prstGeom>
          <a:solidFill>
            <a:srgbClr val="D8CFE0"/>
          </a:solidFill>
          <a:ln w="9525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20" name="Text 17"/>
          <p:cNvSpPr/>
          <p:nvPr/>
        </p:nvSpPr>
        <p:spPr>
          <a:xfrm>
            <a:off x="2049897" y="10379730"/>
            <a:ext cx="12764589" cy="49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kern="0" spc="619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1988285" y="11217353"/>
            <a:ext cx="12764589" cy="148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2971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How do discounts affect e-commerce sales and customer purchasing behavior, and to what extent do they impact profitability?</a:t>
            </a:r>
            <a:endParaRPr lang="en-US" sz="2352" dirty="0"/>
          </a:p>
        </p:txBody>
      </p:sp>
      <p:sp>
        <p:nvSpPr>
          <p:cNvPr id="22" name="Text 19"/>
          <p:cNvSpPr/>
          <p:nvPr/>
        </p:nvSpPr>
        <p:spPr>
          <a:xfrm>
            <a:off x="16268049" y="9471207"/>
            <a:ext cx="13760849" cy="49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kern="0" spc="619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610" dirty="0"/>
          </a:p>
        </p:txBody>
      </p:sp>
      <p:sp>
        <p:nvSpPr>
          <p:cNvPr id="23" name="Shape 20"/>
          <p:cNvSpPr/>
          <p:nvPr/>
        </p:nvSpPr>
        <p:spPr>
          <a:xfrm>
            <a:off x="16268049" y="9991979"/>
            <a:ext cx="13760849" cy="1618923"/>
          </a:xfrm>
          <a:prstGeom prst="rect">
            <a:avLst/>
          </a:prstGeom>
          <a:solidFill>
            <a:srgbClr val="FFFCF6"/>
          </a:solidFill>
          <a:ln w="9525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24" name="Shape 21"/>
          <p:cNvSpPr/>
          <p:nvPr/>
        </p:nvSpPr>
        <p:spPr>
          <a:xfrm>
            <a:off x="16268048" y="9991979"/>
            <a:ext cx="149438" cy="1618923"/>
          </a:xfrm>
          <a:prstGeom prst="rect">
            <a:avLst/>
          </a:prstGeom>
          <a:solidFill>
            <a:srgbClr val="8A7E72"/>
          </a:solidFill>
          <a:ln w="12700">
            <a:solidFill>
              <a:srgbClr val="8A7E72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25" name="Text 22"/>
          <p:cNvSpPr/>
          <p:nvPr/>
        </p:nvSpPr>
        <p:spPr>
          <a:xfrm>
            <a:off x="16664288" y="10048585"/>
            <a:ext cx="13200453" cy="149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971" b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</a:t>
            </a: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in sales between discounted and non-discounted products.</a:t>
            </a:r>
            <a:endParaRPr lang="en-US" sz="2724" dirty="0"/>
          </a:p>
        </p:txBody>
      </p:sp>
      <p:sp>
        <p:nvSpPr>
          <p:cNvPr id="26" name="Shape 23"/>
          <p:cNvSpPr/>
          <p:nvPr/>
        </p:nvSpPr>
        <p:spPr>
          <a:xfrm>
            <a:off x="16268049" y="11633544"/>
            <a:ext cx="13760849" cy="1743456"/>
          </a:xfrm>
          <a:prstGeom prst="rect">
            <a:avLst/>
          </a:prstGeom>
          <a:solidFill>
            <a:srgbClr val="EDD0D0"/>
          </a:solidFill>
          <a:ln w="1270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27" name="Shape 24"/>
          <p:cNvSpPr/>
          <p:nvPr/>
        </p:nvSpPr>
        <p:spPr>
          <a:xfrm>
            <a:off x="16268048" y="11633544"/>
            <a:ext cx="149438" cy="1743456"/>
          </a:xfrm>
          <a:prstGeom prst="rect">
            <a:avLst/>
          </a:prstGeom>
          <a:solidFill>
            <a:srgbClr val="8B5A5C"/>
          </a:solidFill>
          <a:ln w="1270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28" name="Text 25"/>
          <p:cNvSpPr/>
          <p:nvPr/>
        </p:nvSpPr>
        <p:spPr>
          <a:xfrm>
            <a:off x="16664288" y="11690151"/>
            <a:ext cx="13200453" cy="1618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</a:t>
            </a:r>
            <a:r>
              <a:rPr lang="en-US" sz="297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have a statistically significant </a:t>
            </a: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</a:t>
            </a:r>
            <a:r>
              <a:rPr lang="en-US" sz="297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e-commerce sales.</a:t>
            </a:r>
            <a:endParaRPr lang="en-US" sz="2724" dirty="0"/>
          </a:p>
        </p:txBody>
      </p:sp>
      <p:sp>
        <p:nvSpPr>
          <p:cNvPr id="31" name="Text 28"/>
          <p:cNvSpPr/>
          <p:nvPr/>
        </p:nvSpPr>
        <p:spPr>
          <a:xfrm>
            <a:off x="2767586" y="13749849"/>
            <a:ext cx="26836769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57" b="1" dirty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&amp; Data</a:t>
            </a:r>
            <a:endParaRPr lang="en-US" sz="3714" dirty="0"/>
          </a:p>
        </p:txBody>
      </p:sp>
      <p:sp>
        <p:nvSpPr>
          <p:cNvPr id="32" name="Shape 29"/>
          <p:cNvSpPr/>
          <p:nvPr/>
        </p:nvSpPr>
        <p:spPr>
          <a:xfrm>
            <a:off x="1578866" y="14825357"/>
            <a:ext cx="28144361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33" name="Shape 30"/>
          <p:cNvSpPr/>
          <p:nvPr/>
        </p:nvSpPr>
        <p:spPr>
          <a:xfrm>
            <a:off x="1578865" y="15164991"/>
            <a:ext cx="6755892" cy="2117054"/>
          </a:xfrm>
          <a:prstGeom prst="rect">
            <a:avLst/>
          </a:prstGeom>
          <a:solidFill>
            <a:srgbClr val="EDD0D0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34" name="Text 31"/>
          <p:cNvSpPr/>
          <p:nvPr/>
        </p:nvSpPr>
        <p:spPr>
          <a:xfrm>
            <a:off x="1578865" y="15368772"/>
            <a:ext cx="6755892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5" b="1" dirty="0">
                <a:solidFill>
                  <a:srgbClr val="6E4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34,500</a:t>
            </a:r>
            <a:endParaRPr lang="en-US" sz="3962" dirty="0"/>
          </a:p>
        </p:txBody>
      </p:sp>
      <p:sp>
        <p:nvSpPr>
          <p:cNvPr id="35" name="Text 32"/>
          <p:cNvSpPr/>
          <p:nvPr/>
        </p:nvSpPr>
        <p:spPr>
          <a:xfrm>
            <a:off x="1578865" y="16353712"/>
            <a:ext cx="6755892" cy="62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733" dirty="0"/>
          </a:p>
        </p:txBody>
      </p:sp>
      <p:sp>
        <p:nvSpPr>
          <p:cNvPr id="36" name="Shape 33"/>
          <p:cNvSpPr/>
          <p:nvPr/>
        </p:nvSpPr>
        <p:spPr>
          <a:xfrm>
            <a:off x="8060219" y="15164991"/>
            <a:ext cx="6755892" cy="2117054"/>
          </a:xfrm>
          <a:prstGeom prst="rect">
            <a:avLst/>
          </a:prstGeom>
          <a:solidFill>
            <a:srgbClr val="D5DFC8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37" name="Text 34"/>
          <p:cNvSpPr/>
          <p:nvPr/>
        </p:nvSpPr>
        <p:spPr>
          <a:xfrm>
            <a:off x="8060219" y="15368772"/>
            <a:ext cx="6755892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5" b="1" dirty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962" dirty="0"/>
          </a:p>
        </p:txBody>
      </p:sp>
      <p:sp>
        <p:nvSpPr>
          <p:cNvPr id="38" name="Text 35"/>
          <p:cNvSpPr/>
          <p:nvPr/>
        </p:nvSpPr>
        <p:spPr>
          <a:xfrm>
            <a:off x="8060219" y="16353712"/>
            <a:ext cx="6755892" cy="62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733" dirty="0"/>
          </a:p>
        </p:txBody>
      </p:sp>
      <p:sp>
        <p:nvSpPr>
          <p:cNvPr id="39" name="Shape 36"/>
          <p:cNvSpPr/>
          <p:nvPr/>
        </p:nvSpPr>
        <p:spPr>
          <a:xfrm>
            <a:off x="14541573" y="15164991"/>
            <a:ext cx="6755892" cy="2117054"/>
          </a:xfrm>
          <a:prstGeom prst="rect">
            <a:avLst/>
          </a:prstGeom>
          <a:solidFill>
            <a:srgbClr val="D8CFE0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40" name="Text 37"/>
          <p:cNvSpPr/>
          <p:nvPr/>
        </p:nvSpPr>
        <p:spPr>
          <a:xfrm>
            <a:off x="14541573" y="15368772"/>
            <a:ext cx="6755892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5" b="1" dirty="0">
                <a:solidFill>
                  <a:srgbClr val="5A4E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2 yrs</a:t>
            </a:r>
            <a:endParaRPr lang="en-US" sz="3962" dirty="0"/>
          </a:p>
        </p:txBody>
      </p:sp>
      <p:sp>
        <p:nvSpPr>
          <p:cNvPr id="41" name="Text 38"/>
          <p:cNvSpPr/>
          <p:nvPr/>
        </p:nvSpPr>
        <p:spPr>
          <a:xfrm>
            <a:off x="14541573" y="16353712"/>
            <a:ext cx="6755892" cy="62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activity</a:t>
            </a:r>
            <a:endParaRPr lang="en-US" sz="1733" dirty="0"/>
          </a:p>
        </p:txBody>
      </p:sp>
      <p:sp>
        <p:nvSpPr>
          <p:cNvPr id="42" name="Shape 39"/>
          <p:cNvSpPr/>
          <p:nvPr/>
        </p:nvSpPr>
        <p:spPr>
          <a:xfrm>
            <a:off x="21022927" y="15164991"/>
            <a:ext cx="6755892" cy="2117054"/>
          </a:xfrm>
          <a:prstGeom prst="rect">
            <a:avLst/>
          </a:prstGeom>
          <a:solidFill>
            <a:srgbClr val="F2D9BC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43" name="Text 40"/>
          <p:cNvSpPr/>
          <p:nvPr/>
        </p:nvSpPr>
        <p:spPr>
          <a:xfrm>
            <a:off x="21022927" y="15368772"/>
            <a:ext cx="6755892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5" b="1" dirty="0">
                <a:solidFill>
                  <a:srgbClr val="C58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– 30 %</a:t>
            </a:r>
            <a:endParaRPr lang="en-US" sz="3962" dirty="0"/>
          </a:p>
        </p:txBody>
      </p:sp>
      <p:sp>
        <p:nvSpPr>
          <p:cNvPr id="44" name="Text 41"/>
          <p:cNvSpPr/>
          <p:nvPr/>
        </p:nvSpPr>
        <p:spPr>
          <a:xfrm>
            <a:off x="21022927" y="16353712"/>
            <a:ext cx="6755892" cy="62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range</a:t>
            </a:r>
            <a:endParaRPr lang="en-US" sz="1733" dirty="0"/>
          </a:p>
        </p:txBody>
      </p:sp>
      <p:sp>
        <p:nvSpPr>
          <p:cNvPr id="45" name="Text 42"/>
          <p:cNvSpPr/>
          <p:nvPr/>
        </p:nvSpPr>
        <p:spPr>
          <a:xfrm>
            <a:off x="1578866" y="17558437"/>
            <a:ext cx="28144361" cy="1687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Welch’s independent-samples t-test  </a:t>
            </a:r>
            <a:r>
              <a:rPr lang="en-US" sz="36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independent groups (</a:t>
            </a:r>
            <a:r>
              <a:rPr lang="en-US" sz="3600" i="1" dirty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</a:t>
            </a:r>
            <a:r>
              <a:rPr lang="en-US" sz="36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r>
              <a:rPr lang="en-US" sz="3600" i="1" dirty="0" smtClean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non-discounted</a:t>
            </a:r>
            <a:r>
              <a:rPr lang="en-US" sz="3600" dirty="0" smtClean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36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α = 0.05. Equal variances are not assumed; the very large sample size makes the test valid despite skewed sales distributions, by the Central Limit Theorem.</a:t>
            </a:r>
            <a:endParaRPr lang="en-US" sz="3600" dirty="0"/>
          </a:p>
        </p:txBody>
      </p:sp>
      <p:sp>
        <p:nvSpPr>
          <p:cNvPr id="48" name="Text 45"/>
          <p:cNvSpPr/>
          <p:nvPr/>
        </p:nvSpPr>
        <p:spPr>
          <a:xfrm>
            <a:off x="2706717" y="19138908"/>
            <a:ext cx="26836769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57" b="1" dirty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</a:t>
            </a:r>
            <a:r>
              <a:rPr lang="en-US" sz="4457" b="1" dirty="0" smtClean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3714" dirty="0"/>
          </a:p>
        </p:txBody>
      </p:sp>
      <p:sp>
        <p:nvSpPr>
          <p:cNvPr id="49" name="Shape 46"/>
          <p:cNvSpPr/>
          <p:nvPr/>
        </p:nvSpPr>
        <p:spPr>
          <a:xfrm>
            <a:off x="1517997" y="20214416"/>
            <a:ext cx="28144361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51" name="Text 48"/>
          <p:cNvSpPr/>
          <p:nvPr/>
        </p:nvSpPr>
        <p:spPr>
          <a:xfrm>
            <a:off x="15346813" y="21687891"/>
            <a:ext cx="27397166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kern="0" spc="248" dirty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  ·   Average Sales &amp; Quantity — Discount vs. No Discount</a:t>
            </a:r>
            <a:endParaRPr lang="en-US" sz="1733" dirty="0"/>
          </a:p>
        </p:txBody>
      </p:sp>
      <p:sp>
        <p:nvSpPr>
          <p:cNvPr id="55" name="Text 51"/>
          <p:cNvSpPr/>
          <p:nvPr/>
        </p:nvSpPr>
        <p:spPr>
          <a:xfrm>
            <a:off x="1803022" y="20489928"/>
            <a:ext cx="856017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kern="0" spc="248" dirty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  ·   Profit Margin by Discount Tier</a:t>
            </a:r>
            <a:endParaRPr lang="en-US" sz="1733" dirty="0"/>
          </a:p>
        </p:txBody>
      </p:sp>
      <p:pic>
        <p:nvPicPr>
          <p:cNvPr id="56" name="Image 2" descr="/home/claude/figures/img-0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15848" y="21386255"/>
            <a:ext cx="13278569" cy="8818827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1852835" y="30410300"/>
            <a:ext cx="13412159" cy="84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dirty="0">
                <a:solidFill>
                  <a:srgbClr val="8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</a:t>
            </a: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drift</a:t>
            </a: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profit margin as discount depth grows from 0 % to 30 %.</a:t>
            </a:r>
            <a:endParaRPr lang="en-US" sz="1981" dirty="0"/>
          </a:p>
        </p:txBody>
      </p:sp>
      <p:sp>
        <p:nvSpPr>
          <p:cNvPr id="58" name="Shape 53"/>
          <p:cNvSpPr/>
          <p:nvPr/>
        </p:nvSpPr>
        <p:spPr>
          <a:xfrm>
            <a:off x="1544873" y="31628896"/>
            <a:ext cx="9132389" cy="1641480"/>
          </a:xfrm>
          <a:prstGeom prst="rect">
            <a:avLst/>
          </a:prstGeom>
          <a:solidFill>
            <a:srgbClr val="FFFCF6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59" name="Text 54"/>
          <p:cNvSpPr/>
          <p:nvPr/>
        </p:nvSpPr>
        <p:spPr>
          <a:xfrm>
            <a:off x="1544873" y="31818127"/>
            <a:ext cx="9132389" cy="620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5" b="1" dirty="0">
                <a:solidFill>
                  <a:srgbClr val="6E4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−5.22</a:t>
            </a:r>
            <a:endParaRPr lang="en-US" sz="3962" dirty="0"/>
          </a:p>
        </p:txBody>
      </p:sp>
      <p:sp>
        <p:nvSpPr>
          <p:cNvPr id="60" name="Text 55"/>
          <p:cNvSpPr/>
          <p:nvPr/>
        </p:nvSpPr>
        <p:spPr>
          <a:xfrm>
            <a:off x="1544873" y="32630733"/>
            <a:ext cx="9132389" cy="32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733" dirty="0"/>
          </a:p>
        </p:txBody>
      </p:sp>
      <p:sp>
        <p:nvSpPr>
          <p:cNvPr id="61" name="Shape 56"/>
          <p:cNvSpPr/>
          <p:nvPr/>
        </p:nvSpPr>
        <p:spPr>
          <a:xfrm>
            <a:off x="10648985" y="31642781"/>
            <a:ext cx="9132389" cy="1596280"/>
          </a:xfrm>
          <a:prstGeom prst="rect">
            <a:avLst/>
          </a:prstGeom>
          <a:solidFill>
            <a:srgbClr val="FFFCF6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62" name="Text 57"/>
          <p:cNvSpPr/>
          <p:nvPr/>
        </p:nvSpPr>
        <p:spPr>
          <a:xfrm>
            <a:off x="10648985" y="31651270"/>
            <a:ext cx="9132389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5" b="1" dirty="0">
                <a:solidFill>
                  <a:srgbClr val="6E4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0.0001</a:t>
            </a:r>
            <a:endParaRPr lang="en-US" sz="3962" dirty="0"/>
          </a:p>
        </p:txBody>
      </p:sp>
      <p:sp>
        <p:nvSpPr>
          <p:cNvPr id="63" name="Text 58"/>
          <p:cNvSpPr/>
          <p:nvPr/>
        </p:nvSpPr>
        <p:spPr>
          <a:xfrm>
            <a:off x="10648985" y="32367334"/>
            <a:ext cx="9132389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733" dirty="0"/>
          </a:p>
        </p:txBody>
      </p:sp>
      <p:sp>
        <p:nvSpPr>
          <p:cNvPr id="64" name="Shape 59"/>
          <p:cNvSpPr/>
          <p:nvPr/>
        </p:nvSpPr>
        <p:spPr>
          <a:xfrm>
            <a:off x="19781376" y="31651272"/>
            <a:ext cx="9132389" cy="1596280"/>
          </a:xfrm>
          <a:prstGeom prst="rect">
            <a:avLst/>
          </a:prstGeom>
          <a:solidFill>
            <a:srgbClr val="8B5A5C"/>
          </a:solidFill>
          <a:ln w="1270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65" name="Text 60"/>
          <p:cNvSpPr/>
          <p:nvPr/>
        </p:nvSpPr>
        <p:spPr>
          <a:xfrm>
            <a:off x="19781374" y="31778634"/>
            <a:ext cx="9132389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10" b="1" dirty="0">
                <a:solidFill>
                  <a:srgbClr val="F2D9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H₀</a:t>
            </a:r>
            <a:endParaRPr lang="en-US" sz="3467" dirty="0"/>
          </a:p>
        </p:txBody>
      </p:sp>
      <p:sp>
        <p:nvSpPr>
          <p:cNvPr id="66" name="Text 61"/>
          <p:cNvSpPr/>
          <p:nvPr/>
        </p:nvSpPr>
        <p:spPr>
          <a:xfrm>
            <a:off x="19781375" y="32564134"/>
            <a:ext cx="9132389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71" dirty="0">
                <a:solidFill>
                  <a:srgbClr val="ED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α = 0.05</a:t>
            </a:r>
            <a:endParaRPr lang="en-US" sz="1733" dirty="0"/>
          </a:p>
        </p:txBody>
      </p:sp>
      <p:sp>
        <p:nvSpPr>
          <p:cNvPr id="69" name="Text 64"/>
          <p:cNvSpPr/>
          <p:nvPr/>
        </p:nvSpPr>
        <p:spPr>
          <a:xfrm>
            <a:off x="2745058" y="33514765"/>
            <a:ext cx="26836769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57" b="1" dirty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Holds</a:t>
            </a:r>
            <a:endParaRPr lang="en-US" sz="3714" dirty="0"/>
          </a:p>
        </p:txBody>
      </p:sp>
      <p:sp>
        <p:nvSpPr>
          <p:cNvPr id="70" name="Shape 65"/>
          <p:cNvSpPr/>
          <p:nvPr/>
        </p:nvSpPr>
        <p:spPr>
          <a:xfrm>
            <a:off x="1556338" y="34590273"/>
            <a:ext cx="28144361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71" name="Shape 66"/>
          <p:cNvSpPr/>
          <p:nvPr/>
        </p:nvSpPr>
        <p:spPr>
          <a:xfrm>
            <a:off x="1578865" y="34748756"/>
            <a:ext cx="11436095" cy="7155283"/>
          </a:xfrm>
          <a:prstGeom prst="rect">
            <a:avLst/>
          </a:prstGeom>
          <a:solidFill>
            <a:srgbClr val="FFFCF6"/>
          </a:solidFill>
          <a:ln w="9525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72" name="Text 67"/>
          <p:cNvSpPr/>
          <p:nvPr/>
        </p:nvSpPr>
        <p:spPr>
          <a:xfrm>
            <a:off x="1827929" y="34795631"/>
            <a:ext cx="13262719" cy="49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kern="0" spc="248" dirty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  ·   Correlation between key variables</a:t>
            </a:r>
            <a:endParaRPr lang="en-US" sz="1610" dirty="0"/>
          </a:p>
        </p:txBody>
      </p:sp>
      <p:pic>
        <p:nvPicPr>
          <p:cNvPr id="73" name="Image 3" descr="/home/claude/figures/img-01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05287" y="35391405"/>
            <a:ext cx="10904873" cy="6320175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15939850" y="35889541"/>
            <a:ext cx="13760849" cy="1867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Discount’s correlation with every key business metric is </a:t>
            </a: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or slightly negative.</a:t>
            </a:r>
            <a:endParaRPr lang="en-US" sz="2105" dirty="0"/>
          </a:p>
        </p:txBody>
      </p:sp>
      <p:sp>
        <p:nvSpPr>
          <p:cNvPr id="75" name="Shape 69"/>
          <p:cNvSpPr/>
          <p:nvPr/>
        </p:nvSpPr>
        <p:spPr>
          <a:xfrm>
            <a:off x="15939850" y="37474501"/>
            <a:ext cx="13760849" cy="1494391"/>
          </a:xfrm>
          <a:prstGeom prst="rect">
            <a:avLst/>
          </a:prstGeom>
          <a:solidFill>
            <a:srgbClr val="F2D9BC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76" name="Text 70"/>
          <p:cNvSpPr/>
          <p:nvPr/>
        </p:nvSpPr>
        <p:spPr>
          <a:xfrm>
            <a:off x="16279483" y="37610355"/>
            <a:ext cx="13013654" cy="68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dirty="0">
                <a:solidFill>
                  <a:srgbClr val="C58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−0.031</a:t>
            </a:r>
            <a:endParaRPr lang="en-US" sz="2724" dirty="0"/>
          </a:p>
        </p:txBody>
      </p:sp>
      <p:sp>
        <p:nvSpPr>
          <p:cNvPr id="77" name="Text 71"/>
          <p:cNvSpPr/>
          <p:nvPr/>
        </p:nvSpPr>
        <p:spPr>
          <a:xfrm>
            <a:off x="16279483" y="38210375"/>
            <a:ext cx="13013654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Total Sales</a:t>
            </a:r>
            <a:endParaRPr lang="en-US" sz="1610" dirty="0"/>
          </a:p>
        </p:txBody>
      </p:sp>
      <p:sp>
        <p:nvSpPr>
          <p:cNvPr id="78" name="Shape 72"/>
          <p:cNvSpPr/>
          <p:nvPr/>
        </p:nvSpPr>
        <p:spPr>
          <a:xfrm>
            <a:off x="15939850" y="39002855"/>
            <a:ext cx="13760849" cy="1494391"/>
          </a:xfrm>
          <a:prstGeom prst="rect">
            <a:avLst/>
          </a:prstGeom>
          <a:solidFill>
            <a:srgbClr val="EDD0D0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79" name="Text 73"/>
          <p:cNvSpPr/>
          <p:nvPr/>
        </p:nvSpPr>
        <p:spPr>
          <a:xfrm>
            <a:off x="16279483" y="39138709"/>
            <a:ext cx="13013654" cy="68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dirty="0">
                <a:solidFill>
                  <a:srgbClr val="6E4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−0.047</a:t>
            </a:r>
            <a:endParaRPr lang="en-US" sz="2724" dirty="0"/>
          </a:p>
        </p:txBody>
      </p:sp>
      <p:sp>
        <p:nvSpPr>
          <p:cNvPr id="80" name="Text 74"/>
          <p:cNvSpPr/>
          <p:nvPr/>
        </p:nvSpPr>
        <p:spPr>
          <a:xfrm>
            <a:off x="16279483" y="39738729"/>
            <a:ext cx="13013654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Profit Margin</a:t>
            </a:r>
            <a:endParaRPr lang="en-US" sz="1610" dirty="0"/>
          </a:p>
        </p:txBody>
      </p:sp>
      <p:sp>
        <p:nvSpPr>
          <p:cNvPr id="83" name="Text 77"/>
          <p:cNvSpPr/>
          <p:nvPr/>
        </p:nvSpPr>
        <p:spPr>
          <a:xfrm>
            <a:off x="2767585" y="42164425"/>
            <a:ext cx="26836769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57" b="1" dirty="0">
                <a:solidFill>
                  <a:srgbClr val="5C7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lang="en-US" sz="3714" dirty="0"/>
          </a:p>
        </p:txBody>
      </p:sp>
      <p:sp>
        <p:nvSpPr>
          <p:cNvPr id="84" name="Shape 78"/>
          <p:cNvSpPr/>
          <p:nvPr/>
        </p:nvSpPr>
        <p:spPr>
          <a:xfrm>
            <a:off x="1578865" y="43239933"/>
            <a:ext cx="28144361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85" name="Text 79"/>
          <p:cNvSpPr/>
          <p:nvPr/>
        </p:nvSpPr>
        <p:spPr>
          <a:xfrm>
            <a:off x="1736796" y="43390947"/>
            <a:ext cx="28144361" cy="2241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overturn the common intuition that lower prices drive higher sales. The null hypothesis is rejected, but </a:t>
            </a:r>
            <a:r>
              <a:rPr lang="en-US" sz="3200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opposite direction </a:t>
            </a:r>
            <a:r>
              <a:rPr lang="en-US" sz="3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is usually assumed: discounted transactions perform slightly worse than full-price ones, and deeper discounts erode margin without growing volume.</a:t>
            </a:r>
            <a:endParaRPr lang="en-US" sz="3200" dirty="0"/>
          </a:p>
        </p:txBody>
      </p:sp>
      <p:sp>
        <p:nvSpPr>
          <p:cNvPr id="86" name="Shape 80"/>
          <p:cNvSpPr/>
          <p:nvPr/>
        </p:nvSpPr>
        <p:spPr>
          <a:xfrm>
            <a:off x="1578865" y="45024182"/>
            <a:ext cx="28144361" cy="2405743"/>
          </a:xfrm>
          <a:prstGeom prst="rect">
            <a:avLst/>
          </a:prstGeom>
          <a:solidFill>
            <a:srgbClr val="5C7561"/>
          </a:solidFill>
          <a:ln w="12700">
            <a:solidFill>
              <a:srgbClr val="5C7561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87" name="Shape 81"/>
          <p:cNvSpPr/>
          <p:nvPr/>
        </p:nvSpPr>
        <p:spPr>
          <a:xfrm>
            <a:off x="1578864" y="45024182"/>
            <a:ext cx="315864" cy="2405743"/>
          </a:xfrm>
          <a:prstGeom prst="rect">
            <a:avLst/>
          </a:prstGeom>
          <a:solidFill>
            <a:srgbClr val="F2D9BC"/>
          </a:solidFill>
          <a:ln w="12700">
            <a:solidFill>
              <a:srgbClr val="F2D9B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88" name="Text 82"/>
          <p:cNvSpPr/>
          <p:nvPr/>
        </p:nvSpPr>
        <p:spPr>
          <a:xfrm>
            <a:off x="1988285" y="45332217"/>
            <a:ext cx="27148101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kern="0" spc="619" dirty="0">
                <a:solidFill>
                  <a:srgbClr val="F2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EGYPTIAN E-COMMERCE MARKET</a:t>
            </a:r>
            <a:endParaRPr lang="en-US" sz="1733" dirty="0"/>
          </a:p>
        </p:txBody>
      </p:sp>
      <p:sp>
        <p:nvSpPr>
          <p:cNvPr id="89" name="Text 83"/>
          <p:cNvSpPr/>
          <p:nvPr/>
        </p:nvSpPr>
        <p:spPr>
          <a:xfrm>
            <a:off x="2031710" y="45890248"/>
            <a:ext cx="27148101" cy="133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97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price-sensitive market where </a:t>
            </a:r>
            <a:r>
              <a:rPr lang="en-US" sz="2971" i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promotions are </a:t>
            </a:r>
            <a:r>
              <a:rPr lang="en-US" sz="297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default tactic, blanket discounting risks shrinking margin without growing volume. Sustainable growth is more likely to come from product value, customer experience and brand — not </a:t>
            </a:r>
            <a:r>
              <a:rPr lang="en-US" sz="2971" i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simply the depth </a:t>
            </a:r>
            <a:r>
              <a:rPr lang="en-US" sz="297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</a:t>
            </a:r>
            <a:r>
              <a:rPr lang="en-US" sz="2971" i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discount</a:t>
            </a:r>
            <a:r>
              <a:rPr lang="en-US" sz="297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105" dirty="0"/>
          </a:p>
        </p:txBody>
      </p:sp>
      <p:sp>
        <p:nvSpPr>
          <p:cNvPr id="90" name="Shape 84"/>
          <p:cNvSpPr/>
          <p:nvPr/>
        </p:nvSpPr>
        <p:spPr>
          <a:xfrm>
            <a:off x="1715848" y="47027051"/>
            <a:ext cx="28144361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pic>
        <p:nvPicPr>
          <p:cNvPr id="52" name="Image 1" descr="/home/claude/figures/img-00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339714" y="21430347"/>
            <a:ext cx="15334487" cy="8890495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15481158" y="29984489"/>
            <a:ext cx="15827038" cy="165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dirty="0">
                <a:solidFill>
                  <a:srgbClr val="8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Non-discounted orders deliver </a:t>
            </a: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sales</a:t>
            </a:r>
            <a:r>
              <a:rPr lang="en-US" sz="297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71" dirty="0" smtClean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</a:t>
            </a:r>
            <a:r>
              <a:rPr lang="en-US" sz="2971" b="1" dirty="0">
                <a:solidFill>
                  <a:srgbClr val="6E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identical quantity sold.</a:t>
            </a:r>
            <a:endParaRPr lang="en-US" sz="1981" dirty="0"/>
          </a:p>
        </p:txBody>
      </p:sp>
      <p:sp>
        <p:nvSpPr>
          <p:cNvPr id="91" name="Shape 12"/>
          <p:cNvSpPr/>
          <p:nvPr/>
        </p:nvSpPr>
        <p:spPr>
          <a:xfrm>
            <a:off x="1743265" y="13915194"/>
            <a:ext cx="751581" cy="705770"/>
          </a:xfrm>
          <a:prstGeom prst="ellipse">
            <a:avLst/>
          </a:prstGeom>
          <a:solidFill>
            <a:srgbClr val="EDD0D0"/>
          </a:solidFill>
          <a:ln w="1524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92" name="Text 27"/>
          <p:cNvSpPr/>
          <p:nvPr/>
        </p:nvSpPr>
        <p:spPr>
          <a:xfrm>
            <a:off x="1626978" y="13659040"/>
            <a:ext cx="1058527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62" b="1" dirty="0">
                <a:solidFill>
                  <a:srgbClr val="8B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19" dirty="0"/>
          </a:p>
        </p:txBody>
      </p:sp>
      <p:sp>
        <p:nvSpPr>
          <p:cNvPr id="93" name="Shape 12"/>
          <p:cNvSpPr/>
          <p:nvPr/>
        </p:nvSpPr>
        <p:spPr>
          <a:xfrm>
            <a:off x="1743265" y="19265856"/>
            <a:ext cx="751581" cy="705770"/>
          </a:xfrm>
          <a:prstGeom prst="ellipse">
            <a:avLst/>
          </a:prstGeom>
          <a:solidFill>
            <a:srgbClr val="EDD0D0"/>
          </a:solidFill>
          <a:ln w="1524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94" name="Text 44"/>
          <p:cNvSpPr/>
          <p:nvPr/>
        </p:nvSpPr>
        <p:spPr>
          <a:xfrm>
            <a:off x="1626977" y="18995914"/>
            <a:ext cx="1058527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62" b="1" dirty="0">
                <a:solidFill>
                  <a:srgbClr val="8B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19" dirty="0"/>
          </a:p>
        </p:txBody>
      </p:sp>
      <p:sp>
        <p:nvSpPr>
          <p:cNvPr id="95" name="Shape 12"/>
          <p:cNvSpPr/>
          <p:nvPr/>
        </p:nvSpPr>
        <p:spPr>
          <a:xfrm>
            <a:off x="1819612" y="33669609"/>
            <a:ext cx="751581" cy="705770"/>
          </a:xfrm>
          <a:prstGeom prst="ellipse">
            <a:avLst/>
          </a:prstGeom>
          <a:solidFill>
            <a:srgbClr val="EDD0D0"/>
          </a:solidFill>
          <a:ln w="1524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96" name="Text 63"/>
          <p:cNvSpPr/>
          <p:nvPr/>
        </p:nvSpPr>
        <p:spPr>
          <a:xfrm>
            <a:off x="1648190" y="33368904"/>
            <a:ext cx="1058527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62" b="1" dirty="0">
                <a:solidFill>
                  <a:srgbClr val="8B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19" dirty="0"/>
          </a:p>
        </p:txBody>
      </p:sp>
      <p:sp>
        <p:nvSpPr>
          <p:cNvPr id="97" name="Text 51"/>
          <p:cNvSpPr/>
          <p:nvPr/>
        </p:nvSpPr>
        <p:spPr>
          <a:xfrm>
            <a:off x="15264993" y="20495254"/>
            <a:ext cx="12513826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71" b="1" kern="0" spc="248" dirty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</a:t>
            </a:r>
            <a:r>
              <a:rPr lang="en-US" sz="2971" b="1" kern="0" spc="248" dirty="0" smtClean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n-US" sz="2971" b="1" kern="0" spc="248" dirty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2971" b="1" kern="0" spc="248" dirty="0" smtClean="0">
                <a:solidFill>
                  <a:srgbClr val="5C7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&amp; Average Quantity by Discount Status</a:t>
            </a:r>
            <a:endParaRPr lang="en-US" sz="1733" dirty="0"/>
          </a:p>
        </p:txBody>
      </p:sp>
      <p:sp>
        <p:nvSpPr>
          <p:cNvPr id="98" name="Shape 12"/>
          <p:cNvSpPr/>
          <p:nvPr/>
        </p:nvSpPr>
        <p:spPr>
          <a:xfrm>
            <a:off x="1819611" y="42303118"/>
            <a:ext cx="751581" cy="705770"/>
          </a:xfrm>
          <a:prstGeom prst="ellipse">
            <a:avLst/>
          </a:prstGeom>
          <a:solidFill>
            <a:srgbClr val="EDD0D0"/>
          </a:solidFill>
          <a:ln w="15240">
            <a:solidFill>
              <a:srgbClr val="8B5A5C"/>
            </a:solidFill>
            <a:prstDash val="solid"/>
          </a:ln>
        </p:spPr>
        <p:txBody>
          <a:bodyPr/>
          <a:lstStyle/>
          <a:p>
            <a:endParaRPr sz="2903"/>
          </a:p>
        </p:txBody>
      </p:sp>
      <p:sp>
        <p:nvSpPr>
          <p:cNvPr id="99" name="Text 76"/>
          <p:cNvSpPr/>
          <p:nvPr/>
        </p:nvSpPr>
        <p:spPr>
          <a:xfrm>
            <a:off x="1666137" y="42062521"/>
            <a:ext cx="1058527" cy="105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62" b="1" dirty="0">
                <a:solidFill>
                  <a:srgbClr val="8B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438</Words>
  <Application>Microsoft Office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Discounts on E-commerce Sales Performance</dc:title>
  <dc:subject>PptxGenJS Presentation</dc:subject>
  <dc:creator>Hefnawy, Tarek, Aladdin, Tamer, Ziad</dc:creator>
  <cp:lastModifiedBy>pc</cp:lastModifiedBy>
  <cp:revision>13</cp:revision>
  <dcterms:created xsi:type="dcterms:W3CDTF">2026-05-04T13:48:20Z</dcterms:created>
  <dcterms:modified xsi:type="dcterms:W3CDTF">2026-05-05T19:37:52Z</dcterms:modified>
</cp:coreProperties>
</file>